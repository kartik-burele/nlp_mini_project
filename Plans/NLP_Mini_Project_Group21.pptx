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58" r:id="rId5"/>
    <p:sldId id="265" r:id="rId6"/>
    <p:sldId id="259" r:id="rId7"/>
    <p:sldId id="266" r:id="rId8"/>
    <p:sldId id="260" r:id="rId9"/>
    <p:sldId id="267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10-05-2026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10-05-2026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10-05-2026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huggingface.co/BAAI/bge-base-en-v1.5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google-bert/bert-base-uncased" TargetMode="External"/><Relationship Id="rId5" Type="http://schemas.openxmlformats.org/officeDocument/2006/relationships/hyperlink" Target="https://huggingface.co/BAAI/bge-base-en-v1.5" TargetMode="Externa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408781" y="2466200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408781" y="2810598"/>
            <a:ext cx="110477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SemiSage</a:t>
            </a:r>
            <a:r>
              <a:rPr lang="en-US" sz="3200" b="1" dirty="0"/>
              <a:t>: Encoder-Based Retrieval Assistant for Semiconductor Documents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3954641" y="3909576"/>
            <a:ext cx="44473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 Group 21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Kartik Burele (MT24AAC011)</a:t>
            </a:r>
          </a:p>
          <a:p>
            <a:pPr algn="ctr"/>
            <a:r>
              <a:rPr lang="en-US" sz="2400" b="1" dirty="0" err="1">
                <a:solidFill>
                  <a:srgbClr val="002060"/>
                </a:solidFill>
              </a:rPr>
              <a:t>Yekollu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Saakshara</a:t>
            </a:r>
            <a:r>
              <a:rPr lang="en-US" sz="2400" b="1" dirty="0">
                <a:solidFill>
                  <a:srgbClr val="002060"/>
                </a:solidFill>
              </a:rPr>
              <a:t> (MT24AAC014)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902722" y="5400139"/>
            <a:ext cx="25511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Dr. </a:t>
            </a:r>
            <a:r>
              <a:rPr lang="en-US" sz="2400" b="1" dirty="0" err="1">
                <a:solidFill>
                  <a:srgbClr val="002060"/>
                </a:solidFill>
              </a:rPr>
              <a:t>Saugata</a:t>
            </a:r>
            <a:r>
              <a:rPr lang="en-US" sz="2400" b="1" dirty="0">
                <a:solidFill>
                  <a:srgbClr val="002060"/>
                </a:solidFill>
              </a:rPr>
              <a:t> Sinha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D5500-71C4-4001-8F33-8C22722166F3}" type="datetime1">
              <a:rPr lang="en-IN" smtClean="0"/>
              <a:t>10-05-2026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450537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 &amp; Communications</a:t>
            </a:r>
          </a:p>
          <a:p>
            <a:pPr algn="ctr"/>
            <a:r>
              <a:rPr lang="en-US" sz="2000" b="1" u="sng" dirty="0"/>
              <a:t>Cohort 3B sem. 3, Summer 2026</a:t>
            </a:r>
          </a:p>
          <a:p>
            <a:pPr algn="ctr"/>
            <a:r>
              <a:rPr lang="en-US" sz="2000" b="1" u="sng" dirty="0"/>
              <a:t>Eval. 2 (10/05/2026)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765"/>
            <a:ext cx="9458739" cy="5231169"/>
          </a:xfrm>
        </p:spPr>
        <p:txBody>
          <a:bodyPr>
            <a:normAutofit fontScale="55000" lnSpcReduction="20000"/>
          </a:bodyPr>
          <a:lstStyle/>
          <a:p>
            <a:r>
              <a:rPr lang="en-US" sz="3400" b="1" dirty="0"/>
              <a:t>Problem Statement:</a:t>
            </a:r>
            <a:br>
              <a:rPr lang="en-US" dirty="0"/>
            </a:br>
            <a:r>
              <a:rPr lang="en-US" sz="2900" dirty="0"/>
              <a:t>Time-consuming manual search in large SEMI standard documents</a:t>
            </a:r>
          </a:p>
          <a:p>
            <a:r>
              <a:rPr lang="en-US" sz="2900" dirty="0"/>
              <a:t>Semiconductor standard PDFs are:</a:t>
            </a:r>
          </a:p>
          <a:p>
            <a:pPr lvl="1"/>
            <a:r>
              <a:rPr lang="en-US" dirty="0"/>
              <a:t>Unstructured (OCR noise, tables, specs)</a:t>
            </a:r>
          </a:p>
          <a:p>
            <a:pPr lvl="1"/>
            <a:r>
              <a:rPr lang="en-US" dirty="0"/>
              <a:t>Difficult to query automatically</a:t>
            </a:r>
          </a:p>
          <a:p>
            <a:r>
              <a:rPr lang="en-US" dirty="0"/>
              <a:t>No ready-made </a:t>
            </a:r>
            <a:r>
              <a:rPr lang="en-US" dirty="0" err="1"/>
              <a:t>QnA</a:t>
            </a:r>
            <a:r>
              <a:rPr lang="en-US" dirty="0"/>
              <a:t> datasets available for this use-case</a:t>
            </a:r>
          </a:p>
          <a:p>
            <a:r>
              <a:rPr lang="en-US" dirty="0"/>
              <a:t>Need a local, secure system (no RAG allowed)</a:t>
            </a:r>
          </a:p>
          <a:p>
            <a:r>
              <a:rPr lang="en-US" sz="3400" b="1" dirty="0"/>
              <a:t>Solution:</a:t>
            </a:r>
            <a:br>
              <a:rPr lang="en-US" dirty="0"/>
            </a:br>
            <a:r>
              <a:rPr lang="en-US" dirty="0"/>
              <a:t>Transformer-based assistant trained on manually/auto-generated </a:t>
            </a:r>
            <a:r>
              <a:rPr lang="en-US" dirty="0" err="1"/>
              <a:t>QnA</a:t>
            </a:r>
            <a:r>
              <a:rPr lang="en-US" dirty="0"/>
              <a:t> dataset</a:t>
            </a:r>
          </a:p>
          <a:p>
            <a:endParaRPr lang="en-US" dirty="0"/>
          </a:p>
          <a:p>
            <a:r>
              <a:rPr lang="en-US" b="1" i="1" dirty="0"/>
              <a:t>Dataset Creation (Our Approach)</a:t>
            </a:r>
          </a:p>
          <a:p>
            <a:r>
              <a:rPr lang="en-US" dirty="0"/>
              <a:t>Input: OCR-based SEMI standard PDFs</a:t>
            </a:r>
          </a:p>
          <a:p>
            <a:r>
              <a:rPr lang="en-US" dirty="0"/>
              <a:t>Built automated dataset(json) pipeline</a:t>
            </a:r>
          </a:p>
          <a:p>
            <a:r>
              <a:rPr lang="en-US" dirty="0"/>
              <a:t>Extracted:</a:t>
            </a:r>
          </a:p>
          <a:p>
            <a:pPr lvl="1"/>
            <a:r>
              <a:rPr lang="en-US" dirty="0"/>
              <a:t>Definitions</a:t>
            </a:r>
          </a:p>
          <a:p>
            <a:pPr lvl="1"/>
            <a:r>
              <a:rPr lang="en-US" dirty="0"/>
              <a:t>Specifications (numeric facts)</a:t>
            </a:r>
          </a:p>
          <a:p>
            <a:pPr lvl="1"/>
            <a:r>
              <a:rPr lang="en-US" dirty="0"/>
              <a:t>Contextual statements</a:t>
            </a:r>
          </a:p>
          <a:p>
            <a:r>
              <a:rPr lang="en-US" b="1" dirty="0"/>
              <a:t>Output: Structured </a:t>
            </a:r>
            <a:r>
              <a:rPr lang="en-US" b="1" dirty="0" err="1"/>
              <a:t>QnA</a:t>
            </a:r>
            <a:r>
              <a:rPr lang="en-US" b="1" dirty="0"/>
              <a:t> dataset (~70–80 </a:t>
            </a:r>
            <a:r>
              <a:rPr lang="en-US" b="1" dirty="0" err="1"/>
              <a:t>QnA</a:t>
            </a:r>
            <a:r>
              <a:rPr lang="en-US" b="1" dirty="0"/>
              <a:t> per PDF)(49k Samples)</a:t>
            </a:r>
          </a:p>
          <a:p>
            <a:r>
              <a:rPr lang="en-US" b="1" dirty="0"/>
              <a:t>Public Dataset: SQuAD2.0(100k Samples)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B378F-8C1C-4934-9591-2093BA20518B}"/>
              </a:ext>
            </a:extLst>
          </p:cNvPr>
          <p:cNvSpPr txBox="1"/>
          <p:nvPr/>
        </p:nvSpPr>
        <p:spPr>
          <a:xfrm>
            <a:off x="914400" y="119270"/>
            <a:ext cx="10028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Problem Statement &amp; Dataset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A3D0F-A745-4682-A388-089D60D58B62}"/>
              </a:ext>
            </a:extLst>
          </p:cNvPr>
          <p:cNvGrpSpPr/>
          <p:nvPr/>
        </p:nvGrpSpPr>
        <p:grpSpPr>
          <a:xfrm>
            <a:off x="8709989" y="304251"/>
            <a:ext cx="3173896" cy="6146809"/>
            <a:chOff x="8709989" y="304251"/>
            <a:chExt cx="3173896" cy="6146809"/>
          </a:xfrm>
        </p:grpSpPr>
        <p:pic>
          <p:nvPicPr>
            <p:cNvPr id="6" name="Graphic 5" descr="Document">
              <a:extLst>
                <a:ext uri="{FF2B5EF4-FFF2-40B4-BE49-F238E27FC236}">
                  <a16:creationId xmlns:a16="http://schemas.microsoft.com/office/drawing/2014/main" id="{D27DEAEE-CAD1-42F0-84ED-12255EC25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09989" y="685805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0A1EFF82-E0EB-48CB-84A3-159398FA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93963" y="685805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Document">
              <a:extLst>
                <a:ext uri="{FF2B5EF4-FFF2-40B4-BE49-F238E27FC236}">
                  <a16:creationId xmlns:a16="http://schemas.microsoft.com/office/drawing/2014/main" id="{CBCF9B9F-C87D-4705-BF84-8B90C9972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08363" y="685805"/>
              <a:ext cx="914400" cy="91440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08DCC18-2B91-4996-ABA8-7EB1E0E89653}"/>
                </a:ext>
              </a:extLst>
            </p:cNvPr>
            <p:cNvCxnSpPr>
              <a:cxnSpLocks/>
            </p:cNvCxnSpPr>
            <p:nvPr/>
          </p:nvCxnSpPr>
          <p:spPr>
            <a:xfrm>
              <a:off x="10018642" y="1679722"/>
              <a:ext cx="13252" cy="76062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F9DF86-B7DE-4996-B401-62401F9342D6}"/>
                </a:ext>
              </a:extLst>
            </p:cNvPr>
            <p:cNvSpPr txBox="1"/>
            <p:nvPr/>
          </p:nvSpPr>
          <p:spPr>
            <a:xfrm>
              <a:off x="10151163" y="1753208"/>
              <a:ext cx="15803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Text Extraction using OCR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E7CDF6-BE13-42F9-8F58-7EF441D1195A}"/>
                </a:ext>
              </a:extLst>
            </p:cNvPr>
            <p:cNvSpPr txBox="1"/>
            <p:nvPr/>
          </p:nvSpPr>
          <p:spPr>
            <a:xfrm>
              <a:off x="8852450" y="304251"/>
              <a:ext cx="25974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PDF data in image format </a:t>
              </a:r>
            </a:p>
          </p:txBody>
        </p:sp>
        <p:pic>
          <p:nvPicPr>
            <p:cNvPr id="15" name="Graphic 14" descr="Database">
              <a:extLst>
                <a:ext uri="{FF2B5EF4-FFF2-40B4-BE49-F238E27FC236}">
                  <a16:creationId xmlns:a16="http://schemas.microsoft.com/office/drawing/2014/main" id="{2CA1447F-68DB-4045-BDF6-1CAB90586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24389" y="4070358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19300A-00E9-4581-B289-D394274BCB47}"/>
                </a:ext>
              </a:extLst>
            </p:cNvPr>
            <p:cNvSpPr txBox="1"/>
            <p:nvPr/>
          </p:nvSpPr>
          <p:spPr>
            <a:xfrm>
              <a:off x="10465902" y="4161618"/>
              <a:ext cx="141798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i="1" dirty="0"/>
                <a:t>Conversion into JSON Squad-like format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0C16BD-AC66-42B0-ADF9-B704D92DEEC0}"/>
                </a:ext>
              </a:extLst>
            </p:cNvPr>
            <p:cNvSpPr txBox="1"/>
            <p:nvPr/>
          </p:nvSpPr>
          <p:spPr>
            <a:xfrm>
              <a:off x="9003193" y="4244012"/>
              <a:ext cx="8415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Definition</a:t>
              </a:r>
              <a:br>
                <a:rPr lang="en-IN" sz="1200" dirty="0"/>
              </a:br>
              <a:r>
                <a:rPr lang="en-IN" sz="1200" dirty="0"/>
                <a:t>Fact</a:t>
              </a:r>
              <a:br>
                <a:rPr lang="en-IN" sz="1200" dirty="0"/>
              </a:br>
              <a:r>
                <a:rPr lang="en-IN" sz="1200" dirty="0"/>
                <a:t>Context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6960CD-1D05-4E83-A7B7-0B5875C52B79}"/>
                </a:ext>
              </a:extLst>
            </p:cNvPr>
            <p:cNvSpPr/>
            <p:nvPr/>
          </p:nvSpPr>
          <p:spPr>
            <a:xfrm>
              <a:off x="9226824" y="5238486"/>
              <a:ext cx="1948069" cy="12125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/>
                <a:t>  {</a:t>
              </a:r>
            </a:p>
            <a:p>
              <a:r>
                <a:rPr lang="en-US" sz="1000" dirty="0"/>
                <a:t>    "question": "What is </a:t>
              </a:r>
              <a:r>
                <a:rPr lang="en-US" sz="1000" dirty="0" err="1"/>
                <a:t>xyz</a:t>
              </a:r>
              <a:r>
                <a:rPr lang="en-US" sz="1000" dirty="0"/>
                <a:t>?",</a:t>
              </a:r>
            </a:p>
            <a:p>
              <a:r>
                <a:rPr lang="en-US" sz="1000" dirty="0"/>
                <a:t>    "context": “</a:t>
              </a:r>
              <a:r>
                <a:rPr lang="en-US" sz="1000" dirty="0" err="1"/>
                <a:t>xyz</a:t>
              </a:r>
              <a:r>
                <a:rPr lang="en-US" sz="1000" dirty="0"/>
                <a:t>",</a:t>
              </a:r>
            </a:p>
            <a:p>
              <a:r>
                <a:rPr lang="en-US" sz="1000" dirty="0"/>
                <a:t>    "answer": “</a:t>
              </a:r>
              <a:r>
                <a:rPr lang="en-US" sz="1000" dirty="0" err="1"/>
                <a:t>xyz</a:t>
              </a:r>
              <a:r>
                <a:rPr lang="en-US" sz="1000" dirty="0"/>
                <a:t>",</a:t>
              </a:r>
            </a:p>
            <a:p>
              <a:r>
                <a:rPr lang="en-US" sz="1000" dirty="0"/>
                <a:t>    "answer_start":123,</a:t>
              </a:r>
            </a:p>
            <a:p>
              <a:r>
                <a:rPr lang="en-US" sz="1000" dirty="0"/>
                <a:t>    "type": "definition",</a:t>
              </a:r>
            </a:p>
            <a:p>
              <a:r>
                <a:rPr lang="en-US" sz="1000" dirty="0"/>
                <a:t>    "source": “xyz.pdf"</a:t>
              </a:r>
            </a:p>
            <a:p>
              <a:r>
                <a:rPr lang="en-US" sz="1000" dirty="0"/>
                <a:t>  },</a:t>
              </a:r>
            </a:p>
            <a:p>
              <a:pPr algn="ctr"/>
              <a:endParaRPr lang="en-IN" sz="1000" dirty="0"/>
            </a:p>
          </p:txBody>
        </p:sp>
        <p:pic>
          <p:nvPicPr>
            <p:cNvPr id="22" name="Graphic 21" descr="Document">
              <a:extLst>
                <a:ext uri="{FF2B5EF4-FFF2-40B4-BE49-F238E27FC236}">
                  <a16:creationId xmlns:a16="http://schemas.microsoft.com/office/drawing/2014/main" id="{CBBB0F8B-2386-4CCB-9D4A-60493F207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84023" y="2411431"/>
              <a:ext cx="914400" cy="914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8A882D-1C77-4D89-ADD3-AA231D95CC30}"/>
                </a:ext>
              </a:extLst>
            </p:cNvPr>
            <p:cNvSpPr txBox="1"/>
            <p:nvPr/>
          </p:nvSpPr>
          <p:spPr>
            <a:xfrm>
              <a:off x="10356573" y="2653749"/>
              <a:ext cx="1080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OCR PDF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D3DC1A5-BDEE-4794-84FC-22559DA6FE1E}"/>
                </a:ext>
              </a:extLst>
            </p:cNvPr>
            <p:cNvCxnSpPr>
              <a:cxnSpLocks/>
            </p:cNvCxnSpPr>
            <p:nvPr/>
          </p:nvCxnSpPr>
          <p:spPr>
            <a:xfrm>
              <a:off x="10038521" y="3303601"/>
              <a:ext cx="13252" cy="76062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C384B8B-A8A0-40DB-BE77-E8C844F77AF5}"/>
                </a:ext>
              </a:extLst>
            </p:cNvPr>
            <p:cNvSpPr txBox="1"/>
            <p:nvPr/>
          </p:nvSpPr>
          <p:spPr>
            <a:xfrm>
              <a:off x="10224051" y="3335616"/>
              <a:ext cx="158031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i="1" dirty="0"/>
                <a:t>Chunk size 250.</a:t>
              </a:r>
              <a:br>
                <a:rPr lang="en-IN" sz="1400" i="1" dirty="0"/>
              </a:br>
              <a:r>
                <a:rPr lang="en-IN" sz="1400" i="1" dirty="0"/>
                <a:t>Rule based </a:t>
              </a:r>
              <a:r>
                <a:rPr lang="en-IN" sz="1400" i="1" dirty="0" err="1"/>
                <a:t>QnA</a:t>
              </a:r>
              <a:r>
                <a:rPr lang="en-IN" sz="1400" i="1" dirty="0"/>
                <a:t> creation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CFBE20-E119-416F-AB2F-D7D4A9D941D4}"/>
              </a:ext>
            </a:extLst>
          </p:cNvPr>
          <p:cNvCxnSpPr/>
          <p:nvPr/>
        </p:nvCxnSpPr>
        <p:spPr>
          <a:xfrm>
            <a:off x="838200" y="3190461"/>
            <a:ext cx="6964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74" y="854765"/>
            <a:ext cx="9541566" cy="5471123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/>
              <a:t>Problem Statement:</a:t>
            </a:r>
            <a:br>
              <a:rPr lang="en-US" dirty="0"/>
            </a:br>
            <a:r>
              <a:rPr lang="en-US" sz="2400" dirty="0"/>
              <a:t>Time-consuming manual search in large SEMI standard documents</a:t>
            </a:r>
            <a:endParaRPr lang="en-US" sz="2900" dirty="0"/>
          </a:p>
          <a:p>
            <a:r>
              <a:rPr lang="en-US" sz="2400" dirty="0"/>
              <a:t>Semiconductor standard PDFs are:</a:t>
            </a:r>
          </a:p>
          <a:p>
            <a:pPr lvl="1"/>
            <a:r>
              <a:rPr lang="en-US" sz="2100" dirty="0"/>
              <a:t>Unstructured (OCR noise, tables, specs)</a:t>
            </a:r>
          </a:p>
          <a:p>
            <a:pPr lvl="1"/>
            <a:r>
              <a:rPr lang="en-US" sz="2100" dirty="0"/>
              <a:t>Difficult to query automatically</a:t>
            </a:r>
          </a:p>
          <a:p>
            <a:r>
              <a:rPr lang="en-US" sz="2400" b="1" dirty="0"/>
              <a:t>Objective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sz="2400" dirty="0"/>
              <a:t>An offline, end-to-end Question Answering system to extract precise </a:t>
            </a:r>
          </a:p>
          <a:p>
            <a:pPr marL="0" indent="0">
              <a:buNone/>
            </a:pPr>
            <a:r>
              <a:rPr lang="en-US" sz="2400" dirty="0"/>
              <a:t>     answers from 213 unstructured semiconductor standard PDFs.</a:t>
            </a:r>
          </a:p>
          <a:p>
            <a:r>
              <a:rPr lang="en-US" sz="2400" b="1" dirty="0"/>
              <a:t>Dataset Generation :</a:t>
            </a:r>
            <a:r>
              <a:rPr lang="en-US" sz="2400" dirty="0"/>
              <a:t> </a:t>
            </a:r>
          </a:p>
          <a:p>
            <a:r>
              <a:rPr lang="en-US" sz="2400" dirty="0"/>
              <a:t>Replaced previous noisy rule-based method with a Local LLM (Gemma 4B via </a:t>
            </a:r>
            <a:r>
              <a:rPr lang="en-US" sz="2400" dirty="0" err="1"/>
              <a:t>Ollama</a:t>
            </a:r>
            <a:r>
              <a:rPr lang="en-US" sz="2400" dirty="0"/>
              <a:t>) to generate high-quality extractive QA pairs. No cloud APIs used.</a:t>
            </a:r>
          </a:p>
          <a:p>
            <a:r>
              <a:rPr lang="en-US" sz="2400" b="1" dirty="0"/>
              <a:t>Data Quality Pipeline:</a:t>
            </a:r>
            <a:endParaRPr lang="en-US" sz="2400" dirty="0"/>
          </a:p>
          <a:p>
            <a:pPr lvl="1"/>
            <a:r>
              <a:rPr lang="en-US" sz="2100" dirty="0" err="1"/>
              <a:t>PyMuPDF</a:t>
            </a:r>
            <a:r>
              <a:rPr lang="en-US" sz="2100" dirty="0"/>
              <a:t> extraction -&gt; OCR Cleaning.</a:t>
            </a:r>
          </a:p>
          <a:p>
            <a:pPr lvl="1"/>
            <a:r>
              <a:rPr lang="en-US" sz="2100" dirty="0"/>
              <a:t>Semantic deduplication using </a:t>
            </a:r>
            <a:r>
              <a:rPr lang="en-US" sz="2100" b="1" dirty="0" err="1"/>
              <a:t>MiniLM</a:t>
            </a:r>
            <a:r>
              <a:rPr lang="en-US" sz="2100" dirty="0"/>
              <a:t> (</a:t>
            </a:r>
            <a:r>
              <a:rPr lang="en-US" sz="2100" b="1" dirty="0"/>
              <a:t>Cosine similarity &gt; 0.90</a:t>
            </a:r>
            <a:r>
              <a:rPr lang="en-US" sz="2100" dirty="0"/>
              <a:t>).</a:t>
            </a:r>
          </a:p>
          <a:p>
            <a:pPr lvl="1"/>
            <a:r>
              <a:rPr lang="en-US" sz="2100" dirty="0"/>
              <a:t>Answer validation (ensuring exact substring matches in context).</a:t>
            </a:r>
          </a:p>
          <a:p>
            <a:r>
              <a:rPr lang="en-US" sz="2400" b="1" dirty="0"/>
              <a:t>Dataset Statistics:</a:t>
            </a:r>
            <a:endParaRPr lang="en-US" sz="2400" dirty="0"/>
          </a:p>
          <a:p>
            <a:pPr lvl="1"/>
            <a:r>
              <a:rPr lang="en-US" b="1" dirty="0"/>
              <a:t>Total Cleaned QA Pairs:</a:t>
            </a:r>
            <a:r>
              <a:rPr lang="en-US" dirty="0"/>
              <a:t> 49,603 (Filtered down from 57,191).</a:t>
            </a:r>
          </a:p>
          <a:p>
            <a:pPr lvl="1"/>
            <a:r>
              <a:rPr lang="en-US" b="1" dirty="0"/>
              <a:t>Split:</a:t>
            </a:r>
            <a:r>
              <a:rPr lang="en-US" dirty="0"/>
              <a:t> Train: 39,682 (80%) | Val: 4,960 (10%) | Test: 4,961 (10%).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B378F-8C1C-4934-9591-2093BA20518B}"/>
              </a:ext>
            </a:extLst>
          </p:cNvPr>
          <p:cNvSpPr txBox="1"/>
          <p:nvPr/>
        </p:nvSpPr>
        <p:spPr>
          <a:xfrm>
            <a:off x="914400" y="119270"/>
            <a:ext cx="10028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Project overview &amp; Dataset Details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A3D0F-A745-4682-A388-089D60D58B62}"/>
              </a:ext>
            </a:extLst>
          </p:cNvPr>
          <p:cNvGrpSpPr/>
          <p:nvPr/>
        </p:nvGrpSpPr>
        <p:grpSpPr>
          <a:xfrm>
            <a:off x="8709989" y="304251"/>
            <a:ext cx="3173896" cy="6146809"/>
            <a:chOff x="8709989" y="304251"/>
            <a:chExt cx="3173896" cy="6146809"/>
          </a:xfrm>
        </p:grpSpPr>
        <p:pic>
          <p:nvPicPr>
            <p:cNvPr id="6" name="Graphic 5" descr="Document">
              <a:extLst>
                <a:ext uri="{FF2B5EF4-FFF2-40B4-BE49-F238E27FC236}">
                  <a16:creationId xmlns:a16="http://schemas.microsoft.com/office/drawing/2014/main" id="{D27DEAEE-CAD1-42F0-84ED-12255EC25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09989" y="685805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0A1EFF82-E0EB-48CB-84A3-159398FA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93963" y="685805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Document">
              <a:extLst>
                <a:ext uri="{FF2B5EF4-FFF2-40B4-BE49-F238E27FC236}">
                  <a16:creationId xmlns:a16="http://schemas.microsoft.com/office/drawing/2014/main" id="{CBCF9B9F-C87D-4705-BF84-8B90C9972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08363" y="685805"/>
              <a:ext cx="914400" cy="91440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08DCC18-2B91-4996-ABA8-7EB1E0E89653}"/>
                </a:ext>
              </a:extLst>
            </p:cNvPr>
            <p:cNvCxnSpPr>
              <a:cxnSpLocks/>
            </p:cNvCxnSpPr>
            <p:nvPr/>
          </p:nvCxnSpPr>
          <p:spPr>
            <a:xfrm>
              <a:off x="10018642" y="1679722"/>
              <a:ext cx="13252" cy="76062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F9DF86-B7DE-4996-B401-62401F9342D6}"/>
                </a:ext>
              </a:extLst>
            </p:cNvPr>
            <p:cNvSpPr txBox="1"/>
            <p:nvPr/>
          </p:nvSpPr>
          <p:spPr>
            <a:xfrm>
              <a:off x="10151163" y="1753208"/>
              <a:ext cx="15803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Text Extraction using OCR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E7CDF6-BE13-42F9-8F58-7EF441D1195A}"/>
                </a:ext>
              </a:extLst>
            </p:cNvPr>
            <p:cNvSpPr txBox="1"/>
            <p:nvPr/>
          </p:nvSpPr>
          <p:spPr>
            <a:xfrm>
              <a:off x="8852450" y="304251"/>
              <a:ext cx="25974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PDF data in image format </a:t>
              </a:r>
            </a:p>
          </p:txBody>
        </p:sp>
        <p:pic>
          <p:nvPicPr>
            <p:cNvPr id="15" name="Graphic 14" descr="Database">
              <a:extLst>
                <a:ext uri="{FF2B5EF4-FFF2-40B4-BE49-F238E27FC236}">
                  <a16:creationId xmlns:a16="http://schemas.microsoft.com/office/drawing/2014/main" id="{2CA1447F-68DB-4045-BDF6-1CAB90586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24389" y="4070358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19300A-00E9-4581-B289-D394274BCB47}"/>
                </a:ext>
              </a:extLst>
            </p:cNvPr>
            <p:cNvSpPr txBox="1"/>
            <p:nvPr/>
          </p:nvSpPr>
          <p:spPr>
            <a:xfrm>
              <a:off x="10465902" y="4161618"/>
              <a:ext cx="141798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i="1" dirty="0"/>
                <a:t>Conversion into JSON Squad-like format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0C16BD-AC66-42B0-ADF9-B704D92DEEC0}"/>
                </a:ext>
              </a:extLst>
            </p:cNvPr>
            <p:cNvSpPr txBox="1"/>
            <p:nvPr/>
          </p:nvSpPr>
          <p:spPr>
            <a:xfrm>
              <a:off x="9003193" y="4244012"/>
              <a:ext cx="8415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Definition</a:t>
              </a:r>
              <a:br>
                <a:rPr lang="en-IN" sz="1200" dirty="0"/>
              </a:br>
              <a:r>
                <a:rPr lang="en-IN" sz="1200" dirty="0"/>
                <a:t>Fact</a:t>
              </a:r>
              <a:br>
                <a:rPr lang="en-IN" sz="1200" dirty="0"/>
              </a:br>
              <a:r>
                <a:rPr lang="en-IN" sz="1200" dirty="0"/>
                <a:t>Context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6960CD-1D05-4E83-A7B7-0B5875C52B79}"/>
                </a:ext>
              </a:extLst>
            </p:cNvPr>
            <p:cNvSpPr/>
            <p:nvPr/>
          </p:nvSpPr>
          <p:spPr>
            <a:xfrm>
              <a:off x="9226824" y="5238486"/>
              <a:ext cx="1948069" cy="12125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/>
                <a:t>  {</a:t>
              </a:r>
            </a:p>
            <a:p>
              <a:r>
                <a:rPr lang="en-US" sz="1000" dirty="0"/>
                <a:t>    "question": "What is </a:t>
              </a:r>
              <a:r>
                <a:rPr lang="en-US" sz="1000" dirty="0" err="1"/>
                <a:t>xyz</a:t>
              </a:r>
              <a:r>
                <a:rPr lang="en-US" sz="1000" dirty="0"/>
                <a:t>?",</a:t>
              </a:r>
            </a:p>
            <a:p>
              <a:r>
                <a:rPr lang="en-US" sz="1000" dirty="0"/>
                <a:t>    "context": “</a:t>
              </a:r>
              <a:r>
                <a:rPr lang="en-US" sz="1000" dirty="0" err="1"/>
                <a:t>xyz</a:t>
              </a:r>
              <a:r>
                <a:rPr lang="en-US" sz="1000" dirty="0"/>
                <a:t>",</a:t>
              </a:r>
            </a:p>
            <a:p>
              <a:r>
                <a:rPr lang="en-US" sz="1000" dirty="0"/>
                <a:t>    "answer": “</a:t>
              </a:r>
              <a:r>
                <a:rPr lang="en-US" sz="1000" dirty="0" err="1"/>
                <a:t>xyz</a:t>
              </a:r>
              <a:r>
                <a:rPr lang="en-US" sz="1000" dirty="0"/>
                <a:t>",</a:t>
              </a:r>
            </a:p>
            <a:p>
              <a:r>
                <a:rPr lang="en-US" sz="1000" dirty="0"/>
                <a:t>    "answer_start":123,</a:t>
              </a:r>
            </a:p>
            <a:p>
              <a:r>
                <a:rPr lang="en-US" sz="1000" dirty="0"/>
                <a:t>    "type": "definition",</a:t>
              </a:r>
            </a:p>
            <a:p>
              <a:r>
                <a:rPr lang="en-US" sz="1000" dirty="0"/>
                <a:t>    "source": “xyz.pdf"</a:t>
              </a:r>
            </a:p>
            <a:p>
              <a:r>
                <a:rPr lang="en-US" sz="1000" dirty="0"/>
                <a:t>  },</a:t>
              </a:r>
            </a:p>
            <a:p>
              <a:pPr algn="ctr"/>
              <a:endParaRPr lang="en-IN" sz="1000" dirty="0"/>
            </a:p>
          </p:txBody>
        </p:sp>
        <p:pic>
          <p:nvPicPr>
            <p:cNvPr id="22" name="Graphic 21" descr="Document">
              <a:extLst>
                <a:ext uri="{FF2B5EF4-FFF2-40B4-BE49-F238E27FC236}">
                  <a16:creationId xmlns:a16="http://schemas.microsoft.com/office/drawing/2014/main" id="{CBBB0F8B-2386-4CCB-9D4A-60493F207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84023" y="2411431"/>
              <a:ext cx="914400" cy="914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8A882D-1C77-4D89-ADD3-AA231D95CC30}"/>
                </a:ext>
              </a:extLst>
            </p:cNvPr>
            <p:cNvSpPr txBox="1"/>
            <p:nvPr/>
          </p:nvSpPr>
          <p:spPr>
            <a:xfrm>
              <a:off x="10356573" y="2653749"/>
              <a:ext cx="1080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OCR PDF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D3DC1A5-BDEE-4794-84FC-22559DA6FE1E}"/>
                </a:ext>
              </a:extLst>
            </p:cNvPr>
            <p:cNvCxnSpPr>
              <a:cxnSpLocks/>
            </p:cNvCxnSpPr>
            <p:nvPr/>
          </p:nvCxnSpPr>
          <p:spPr>
            <a:xfrm>
              <a:off x="10038521" y="3303601"/>
              <a:ext cx="13252" cy="76062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C384B8B-A8A0-40DB-BE77-E8C844F77AF5}"/>
                </a:ext>
              </a:extLst>
            </p:cNvPr>
            <p:cNvSpPr txBox="1"/>
            <p:nvPr/>
          </p:nvSpPr>
          <p:spPr>
            <a:xfrm>
              <a:off x="10224051" y="3335616"/>
              <a:ext cx="158031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i="1" dirty="0"/>
                <a:t>Chunk size 250.</a:t>
              </a:r>
              <a:br>
                <a:rPr lang="en-IN" sz="1400" i="1" dirty="0"/>
              </a:br>
              <a:r>
                <a:rPr lang="en-IN" sz="1400" i="1" dirty="0"/>
                <a:t>Rule based </a:t>
              </a:r>
              <a:r>
                <a:rPr lang="en-IN" sz="1400" i="1" dirty="0" err="1"/>
                <a:t>QnA</a:t>
              </a:r>
              <a:r>
                <a:rPr lang="en-IN" sz="1400" i="1" dirty="0"/>
                <a:t> creation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CFBE20-E119-416F-AB2F-D7D4A9D941D4}"/>
              </a:ext>
            </a:extLst>
          </p:cNvPr>
          <p:cNvCxnSpPr>
            <a:cxnSpLocks/>
          </p:cNvCxnSpPr>
          <p:nvPr/>
        </p:nvCxnSpPr>
        <p:spPr>
          <a:xfrm>
            <a:off x="838200" y="2971808"/>
            <a:ext cx="8014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001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/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Method &amp; Algorithms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90E434-F90C-4227-BEEF-FB44FF401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563" y="1036293"/>
            <a:ext cx="8184873" cy="545658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7850452-EB2A-4398-A0F2-28D9AC4E00EC}"/>
              </a:ext>
            </a:extLst>
          </p:cNvPr>
          <p:cNvGrpSpPr/>
          <p:nvPr/>
        </p:nvGrpSpPr>
        <p:grpSpPr>
          <a:xfrm>
            <a:off x="1013791" y="2720975"/>
            <a:ext cx="989772" cy="1222177"/>
            <a:chOff x="1013791" y="2720975"/>
            <a:chExt cx="989772" cy="1222177"/>
          </a:xfrm>
        </p:grpSpPr>
        <p:pic>
          <p:nvPicPr>
            <p:cNvPr id="6" name="Graphic 5" descr="Database">
              <a:extLst>
                <a:ext uri="{FF2B5EF4-FFF2-40B4-BE49-F238E27FC236}">
                  <a16:creationId xmlns:a16="http://schemas.microsoft.com/office/drawing/2014/main" id="{5A2CAADC-8A4E-4065-B90B-33D5F1BA7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9163" y="2720975"/>
              <a:ext cx="914400" cy="9144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40C45D-D788-4D33-BD57-836547E311D6}"/>
                </a:ext>
              </a:extLst>
            </p:cNvPr>
            <p:cNvSpPr txBox="1"/>
            <p:nvPr/>
          </p:nvSpPr>
          <p:spPr>
            <a:xfrm>
              <a:off x="1013791" y="3635375"/>
              <a:ext cx="9897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dirty="0"/>
                <a:t>SQuAD2.0</a:t>
              </a:r>
            </a:p>
          </p:txBody>
        </p:sp>
      </p:grpSp>
      <p:pic>
        <p:nvPicPr>
          <p:cNvPr id="11" name="Graphic 10" descr="Atom">
            <a:extLst>
              <a:ext uri="{FF2B5EF4-FFF2-40B4-BE49-F238E27FC236}">
                <a16:creationId xmlns:a16="http://schemas.microsoft.com/office/drawing/2014/main" id="{78E6E780-7A50-47AA-940A-101630384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6394" y="1292087"/>
            <a:ext cx="590206" cy="5902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FB7768-5E81-4A1E-85FD-F72DEA4387A9}"/>
              </a:ext>
            </a:extLst>
          </p:cNvPr>
          <p:cNvSpPr txBox="1"/>
          <p:nvPr/>
        </p:nvSpPr>
        <p:spPr>
          <a:xfrm>
            <a:off x="7086600" y="1292087"/>
            <a:ext cx="3647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 Used: </a:t>
            </a:r>
            <a:r>
              <a:rPr lang="en-IN" dirty="0">
                <a:hlinkClick r:id="rId7"/>
              </a:rPr>
              <a:t>BAAI/bge-base-en-v1.5 · Hugging 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69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8" y="457200"/>
            <a:ext cx="2195573" cy="1659836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System Architecture</a:t>
            </a:r>
            <a:br>
              <a:rPr lang="en-IN" sz="3200" b="1" dirty="0">
                <a:latin typeface="+mn-lt"/>
                <a:ea typeface="+mn-ea"/>
                <a:cs typeface="+mn-cs"/>
              </a:rPr>
            </a:br>
            <a:r>
              <a:rPr lang="en-IN" sz="2000" b="1" dirty="0">
                <a:latin typeface="+mn-lt"/>
                <a:ea typeface="+mn-ea"/>
                <a:cs typeface="+mn-cs"/>
              </a:rPr>
              <a:t>(Retriever –</a:t>
            </a:r>
            <a:br>
              <a:rPr lang="en-IN" sz="2000" b="1" dirty="0">
                <a:latin typeface="+mn-lt"/>
                <a:ea typeface="+mn-ea"/>
                <a:cs typeface="+mn-cs"/>
              </a:rPr>
            </a:br>
            <a:r>
              <a:rPr lang="en-IN" sz="2000" b="1" dirty="0">
                <a:latin typeface="+mn-lt"/>
                <a:ea typeface="+mn-ea"/>
                <a:cs typeface="+mn-cs"/>
              </a:rPr>
              <a:t>Reader)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5476A1-4D2F-4231-8582-DFC7FB9DB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166" y="136525"/>
            <a:ext cx="9343489" cy="6550223"/>
          </a:xfrm>
          <a:prstGeom prst="rect">
            <a:avLst/>
          </a:prstGeom>
        </p:spPr>
      </p:pic>
      <p:pic>
        <p:nvPicPr>
          <p:cNvPr id="11" name="Graphic 10" descr="Atom">
            <a:extLst>
              <a:ext uri="{FF2B5EF4-FFF2-40B4-BE49-F238E27FC236}">
                <a16:creationId xmlns:a16="http://schemas.microsoft.com/office/drawing/2014/main" id="{78E6E780-7A50-47AA-940A-101630384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3126" y="1684804"/>
            <a:ext cx="590206" cy="5902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FB7768-5E81-4A1E-85FD-F72DEA4387A9}"/>
              </a:ext>
            </a:extLst>
          </p:cNvPr>
          <p:cNvSpPr txBox="1"/>
          <p:nvPr/>
        </p:nvSpPr>
        <p:spPr>
          <a:xfrm>
            <a:off x="8475429" y="1495960"/>
            <a:ext cx="36476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Models Used: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hlinkClick r:id="rId5"/>
              </a:rPr>
              <a:t>BAAI/bge-base-en-v1.5 · Hugging Face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hlinkClick r:id="rId6"/>
              </a:rPr>
              <a:t>google-</a:t>
            </a:r>
            <a:r>
              <a:rPr lang="en-IN" dirty="0" err="1">
                <a:hlinkClick r:id="rId6"/>
              </a:rPr>
              <a:t>bert</a:t>
            </a:r>
            <a:r>
              <a:rPr lang="en-IN" dirty="0">
                <a:hlinkClick r:id="rId6"/>
              </a:rPr>
              <a:t>/</a:t>
            </a:r>
            <a:r>
              <a:rPr lang="en-IN" dirty="0" err="1">
                <a:hlinkClick r:id="rId6"/>
              </a:rPr>
              <a:t>bert</a:t>
            </a:r>
            <a:r>
              <a:rPr lang="en-IN" dirty="0">
                <a:hlinkClick r:id="rId6"/>
              </a:rPr>
              <a:t>-base-uncased · Hugging Face</a:t>
            </a:r>
            <a:endParaRPr lang="en-IN" dirty="0"/>
          </a:p>
        </p:txBody>
      </p:sp>
      <p:pic>
        <p:nvPicPr>
          <p:cNvPr id="17" name="Graphic 16" descr="Atom">
            <a:extLst>
              <a:ext uri="{FF2B5EF4-FFF2-40B4-BE49-F238E27FC236}">
                <a16:creationId xmlns:a16="http://schemas.microsoft.com/office/drawing/2014/main" id="{4C4B7F57-A659-435E-9575-0B942DF9C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3126" y="2482896"/>
            <a:ext cx="590206" cy="59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3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/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Work Done Till Now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BD23A-07F7-400A-9D42-B59B89A8F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9"/>
            <a:ext cx="10515600" cy="3061250"/>
          </a:xfrm>
        </p:spPr>
        <p:txBody>
          <a:bodyPr>
            <a:normAutofit lnSpcReduction="10000"/>
          </a:bodyPr>
          <a:lstStyle/>
          <a:p>
            <a:r>
              <a:rPr lang="en-IN" sz="2000" b="1" dirty="0"/>
              <a:t>Stage 1: Retriever (BAAI/bge-base-en-v1.5 + FAISS)</a:t>
            </a:r>
            <a:endParaRPr lang="en-IN" sz="2000" dirty="0"/>
          </a:p>
          <a:p>
            <a:pPr lvl="1"/>
            <a:r>
              <a:rPr lang="en-IN" sz="2000" dirty="0"/>
              <a:t>Fine-tuned using </a:t>
            </a:r>
            <a:r>
              <a:rPr lang="en-IN" sz="2000" b="1" dirty="0" err="1"/>
              <a:t>MultipleNegativesRankingLoss</a:t>
            </a:r>
            <a:r>
              <a:rPr lang="en-IN" sz="2000" b="1" dirty="0"/>
              <a:t> (MNRL)</a:t>
            </a:r>
            <a:r>
              <a:rPr lang="en-IN" sz="2000" dirty="0"/>
              <a:t> for a much stronger training signal.</a:t>
            </a:r>
          </a:p>
          <a:p>
            <a:pPr lvl="1"/>
            <a:r>
              <a:rPr lang="en-IN" sz="2000" dirty="0"/>
              <a:t>Windowed positives (±100 characters around the answer) to improve contextual relevance.</a:t>
            </a:r>
          </a:p>
          <a:p>
            <a:pPr lvl="1"/>
            <a:r>
              <a:rPr lang="en-IN" sz="2000" dirty="0"/>
              <a:t>Corpus: 48,969 unique passages indexed with cosine similarity.</a:t>
            </a:r>
          </a:p>
          <a:p>
            <a:r>
              <a:rPr lang="en-US" sz="2000" b="1" dirty="0"/>
              <a:t>Stage 2: QA Reader (</a:t>
            </a:r>
            <a:r>
              <a:rPr lang="en-US" sz="2000" b="1" dirty="0" err="1"/>
              <a:t>bert</a:t>
            </a:r>
            <a:r>
              <a:rPr lang="en-US" sz="2000" b="1" dirty="0"/>
              <a:t>-base-uncased)</a:t>
            </a:r>
            <a:endParaRPr lang="en-US" sz="2000" dirty="0"/>
          </a:p>
          <a:p>
            <a:pPr lvl="1"/>
            <a:r>
              <a:rPr lang="en-US" sz="2000" dirty="0"/>
              <a:t>Fine-tuned specifically for </a:t>
            </a:r>
            <a:r>
              <a:rPr lang="en-US" sz="2000" b="1" dirty="0"/>
              <a:t>Extractive QA</a:t>
            </a:r>
            <a:r>
              <a:rPr lang="en-US" sz="2000" dirty="0"/>
              <a:t> to pinpoint the exact answer span within the retrieved passage.</a:t>
            </a:r>
          </a:p>
          <a:p>
            <a:pPr lvl="1"/>
            <a:r>
              <a:rPr lang="en-US" sz="2000" dirty="0"/>
              <a:t>Evaluates top-20 start/end token candidates to compute final confidence scores.</a:t>
            </a:r>
          </a:p>
          <a:p>
            <a:r>
              <a:rPr lang="en-IN" sz="2000" b="1" dirty="0"/>
              <a:t>Pipeline Flow: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0DF7DF-A952-4565-AAE4-70F0A0151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26" y="4343084"/>
            <a:ext cx="10883348" cy="8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/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Work Done Till Now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B48D0EA-E2D6-4C73-934B-BB7CD4C4D96F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063488"/>
          <a:ext cx="10515600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7126527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38442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8308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31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Initial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Noisy </a:t>
                      </a:r>
                      <a:r>
                        <a:rPr lang="en-IN" dirty="0" err="1"/>
                        <a:t>QnA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Added Filters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405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Over-filtering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Balanced Filtering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1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Root cause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Fixed 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0560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30217-AE23-44CB-8B35-F70E5AEB43F7}"/>
              </a:ext>
            </a:extLst>
          </p:cNvPr>
          <p:cNvSpPr txBox="1"/>
          <p:nvPr/>
        </p:nvSpPr>
        <p:spPr>
          <a:xfrm>
            <a:off x="838200" y="2773017"/>
            <a:ext cx="525780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Major Improvements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Replaced naive sentence split → </a:t>
            </a:r>
            <a:r>
              <a:rPr lang="en-IN" dirty="0" err="1"/>
              <a:t>spaCy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Fixed term extraction (removed garbage like “N”)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Added numeric </a:t>
            </a:r>
            <a:r>
              <a:rPr lang="en-IN" dirty="0" err="1"/>
              <a:t>QnA</a:t>
            </a:r>
            <a:r>
              <a:rPr lang="en-IN" dirty="0"/>
              <a:t> (engineering specs - Tables)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Controlled paraphrasing (only definitions)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Optimized pipeline for speed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1B89BA-D9D0-411A-89A7-BC0C4A158F54}"/>
              </a:ext>
            </a:extLst>
          </p:cNvPr>
          <p:cNvSpPr txBox="1"/>
          <p:nvPr/>
        </p:nvSpPr>
        <p:spPr>
          <a:xfrm>
            <a:off x="6096000" y="2773017"/>
            <a:ext cx="525780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 System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local (no data leakage)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on confidential PDFs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Scalable to multiple documents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54DE61-D821-4C3C-99E8-EF6280447A8F}"/>
              </a:ext>
            </a:extLst>
          </p:cNvPr>
          <p:cNvSpPr/>
          <p:nvPr/>
        </p:nvSpPr>
        <p:spPr>
          <a:xfrm>
            <a:off x="836543" y="4871570"/>
            <a:ext cx="5489713" cy="14175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noise significantly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Stable pipeline (minor variation due to randomness)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Efficient generation of </a:t>
            </a:r>
            <a:r>
              <a:rPr lang="en-US" dirty="0" err="1"/>
              <a:t>QnA</a:t>
            </a:r>
            <a:r>
              <a:rPr lang="en-US" dirty="0"/>
              <a:t> pairs using rule traditional based methods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20C3D7-997A-4E69-8841-51ACA2CCC136}"/>
              </a:ext>
            </a:extLst>
          </p:cNvPr>
          <p:cNvSpPr/>
          <p:nvPr/>
        </p:nvSpPr>
        <p:spPr>
          <a:xfrm>
            <a:off x="6326256" y="4431456"/>
            <a:ext cx="5027544" cy="18576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Validation Strategy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Used → </a:t>
            </a:r>
            <a:r>
              <a:rPr lang="en-US" sz="1400" dirty="0" err="1"/>
              <a:t>SQuAD</a:t>
            </a:r>
            <a:r>
              <a:rPr lang="en-US" sz="1400" dirty="0"/>
              <a:t> v2.0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Human-annotated QA dataset (~100K samples)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Applied SAME pipeline:</a:t>
            </a:r>
          </a:p>
          <a:p>
            <a:pPr algn="ctr"/>
            <a:r>
              <a:rPr lang="en-US" sz="1400" dirty="0"/>
              <a:t>Same model (BGE)</a:t>
            </a:r>
          </a:p>
          <a:p>
            <a:pPr algn="ctr"/>
            <a:r>
              <a:rPr lang="en-US" sz="1400" dirty="0"/>
              <a:t>Same training method</a:t>
            </a:r>
          </a:p>
          <a:p>
            <a:pPr algn="ctr"/>
            <a:r>
              <a:rPr lang="en-US" sz="1400" dirty="0"/>
              <a:t>Same FAISS retrieval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17601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1BDE-A387-12CC-F505-8E04DFFF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</p:spPr>
        <p:txBody>
          <a:bodyPr/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Model Evaluation and Results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AF46D-6352-D0FE-7225-3099957E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A1174-EC12-3755-D427-2E700834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56EE7-FB3B-4DFC-B5B9-E0DCAE3F9A28}"/>
              </a:ext>
            </a:extLst>
          </p:cNvPr>
          <p:cNvSpPr txBox="1"/>
          <p:nvPr/>
        </p:nvSpPr>
        <p:spPr>
          <a:xfrm>
            <a:off x="6659216" y="3877011"/>
            <a:ext cx="4184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 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</a:t>
            </a:r>
            <a:r>
              <a:rPr lang="en-IN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reranker</a:t>
            </a: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better ranking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 user interface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9F019-3377-48D1-A91B-81A19DC8A471}"/>
              </a:ext>
            </a:extLst>
          </p:cNvPr>
          <p:cNvSpPr txBox="1"/>
          <p:nvPr/>
        </p:nvSpPr>
        <p:spPr>
          <a:xfrm>
            <a:off x="838200" y="3877012"/>
            <a:ext cx="37072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Quality Data fundamentally fixed the learning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Retrieval model now effectively understands semantic relationships.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B54794-7666-463C-B2AD-271E0E9C7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313"/>
            <a:ext cx="12192000" cy="116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6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1BDE-A387-12CC-F505-8E04DFFF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</p:spPr>
        <p:txBody>
          <a:bodyPr/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Results Obtained Till Now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AF46D-6352-D0FE-7225-3099957E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A1174-EC12-3755-D427-2E700834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34D126-5090-48E6-B302-41EBFDC7A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13233"/>
              </p:ext>
            </p:extLst>
          </p:nvPr>
        </p:nvGraphicFramePr>
        <p:xfrm>
          <a:off x="838200" y="1203960"/>
          <a:ext cx="1000539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130">
                  <a:extLst>
                    <a:ext uri="{9D8B030D-6E8A-4147-A177-3AD203B41FA5}">
                      <a16:colId xmlns:a16="http://schemas.microsoft.com/office/drawing/2014/main" val="2786635441"/>
                    </a:ext>
                  </a:extLst>
                </a:gridCol>
                <a:gridCol w="3335130">
                  <a:extLst>
                    <a:ext uri="{9D8B030D-6E8A-4147-A177-3AD203B41FA5}">
                      <a16:colId xmlns:a16="http://schemas.microsoft.com/office/drawing/2014/main" val="611354404"/>
                    </a:ext>
                  </a:extLst>
                </a:gridCol>
                <a:gridCol w="3335130">
                  <a:extLst>
                    <a:ext uri="{9D8B030D-6E8A-4147-A177-3AD203B41FA5}">
                      <a16:colId xmlns:a16="http://schemas.microsoft.com/office/drawing/2014/main" val="1074949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OCR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SQuAD2.0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163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Recall@1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543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Recall@5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690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606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Avg. 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Low(~0.05)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906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885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BB56EE7-FB3B-4DFC-B5B9-E0DCAE3F9A28}"/>
              </a:ext>
            </a:extLst>
          </p:cNvPr>
          <p:cNvSpPr txBox="1"/>
          <p:nvPr/>
        </p:nvSpPr>
        <p:spPr>
          <a:xfrm>
            <a:off x="6659216" y="3877011"/>
            <a:ext cx="41843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 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Improve OCR cleaning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Sentence-based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 negative mining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QA layer (answer extraction)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</a:t>
            </a:r>
            <a:r>
              <a:rPr lang="en-IN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reranker</a:t>
            </a: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better ranking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 user interface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9F019-3377-48D1-A91B-81A19DC8A471}"/>
              </a:ext>
            </a:extLst>
          </p:cNvPr>
          <p:cNvSpPr txBox="1"/>
          <p:nvPr/>
        </p:nvSpPr>
        <p:spPr>
          <a:xfrm>
            <a:off x="838200" y="3877012"/>
            <a:ext cx="3707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quality &gt; Model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Retrieval models learn semantic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Noisy OCR data breaks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Clean data → strong retrieval performance</a:t>
            </a:r>
          </a:p>
        </p:txBody>
      </p:sp>
    </p:spTree>
    <p:extLst>
      <p:ext uri="{BB962C8B-B14F-4D97-AF65-F5344CB8AC3E}">
        <p14:creationId xmlns:p14="http://schemas.microsoft.com/office/powerpoint/2010/main" val="771786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942</Words>
  <Application>Microsoft Office PowerPoint</Application>
  <PresentationFormat>Widescreen</PresentationFormat>
  <Paragraphs>184</Paragraphs>
  <Slides>10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Method &amp; Algorithms</vt:lpstr>
      <vt:lpstr>System Architecture (Retriever – Reader)</vt:lpstr>
      <vt:lpstr>Work Done Till Now</vt:lpstr>
      <vt:lpstr>Work Done Till Now</vt:lpstr>
      <vt:lpstr>Model Evaluation and Results</vt:lpstr>
      <vt:lpstr>Results Obtained Till Now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Pawar</dc:creator>
  <cp:lastModifiedBy>kartik burele</cp:lastModifiedBy>
  <cp:revision>36</cp:revision>
  <dcterms:created xsi:type="dcterms:W3CDTF">2025-05-09T09:30:28Z</dcterms:created>
  <dcterms:modified xsi:type="dcterms:W3CDTF">2026-05-09T20:44:26Z</dcterms:modified>
</cp:coreProperties>
</file>