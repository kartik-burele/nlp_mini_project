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8" r:id="rId3"/>
    <p:sldId id="265" r:id="rId4"/>
    <p:sldId id="259" r:id="rId5"/>
    <p:sldId id="260" r:id="rId6"/>
    <p:sldId id="270" r:id="rId7"/>
    <p:sldId id="269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218AD-74E9-4252-B911-4B421BF1F79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6934E-70FA-4538-A02C-6D23660C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8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73B61-4C44-3616-1AC4-C7CC3BF2E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54BAA-3310-F145-D7E8-407BE7A8C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D1936-0F2E-C439-E548-CFD53B7E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5F512-8975-4BF3-A04B-98EEB0D21E15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DD223-AEE9-D9F3-0FB8-2233981B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B56C0-95DA-C0B4-06CB-E2F8B88C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83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0C530-BFBD-D911-D13F-1DEF32C9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40B04-D807-19A7-D4BF-A659AAE95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69AFE-01A0-26E5-8CAC-7482B13E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4D45E-7FAD-1807-D9D8-BBF6E5B07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98C32-1772-09AD-F4DE-476E16C4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92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14C01-4AC2-6116-0AD9-93C0FD29F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99DB3-08BF-2AEF-7A0F-AD74D52FB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96CE1-B866-F4B0-8962-AC5E9E52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163F-D23F-463C-B7DE-B2FD934A9656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39EFB-92F2-4D07-49EE-D98E4844A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9EA3D-FB0A-EB4E-5F85-9495D2D3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72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35BEA-68CE-B4BE-8C0B-181E86490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EABC7-4A63-A566-3785-6559B06B2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228D3-6E45-DB2C-BB3B-BAA0B9118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E9BE3-40A2-9A7B-F76A-80A6B6E4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59D0-08B6-41E6-A77E-0AB9D1CBE992}" type="datetime1">
              <a:rPr lang="en-IN" smtClean="0"/>
              <a:t>10-05-2026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C0015-153D-B1D8-B807-2D5901054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05B12-040B-C002-C167-6C0CB9793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40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E4F0-C6F9-4CF9-DB3C-B9AE667F0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E50C1-8915-E2E3-EC48-350BDEFD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9AA6D-E647-1289-B7FA-2160CB52B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A7124-6A08-EE9C-3EB1-EC65D6D58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BB6355-DC6D-2A3F-9982-4AFFCEA04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D52CB4-6FBD-2CFA-88AB-4D9E3023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8C209-D96D-4E88-BCA6-C7B1F5B6F67D}" type="datetime1">
              <a:rPr lang="en-IN" smtClean="0"/>
              <a:t>10-05-2026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D51D8B-EB32-A6DF-76E2-C071E289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903264-D13E-EE93-263D-49174BDEA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52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75E6-D681-2A9A-620E-CDF62386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00742-2F34-9A7E-3B72-DD9B99FB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CD8-300D-489E-B16E-CD0157CA398A}" type="datetime1">
              <a:rPr lang="en-IN" smtClean="0"/>
              <a:t>10-05-2026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2EC0CE-65E0-DA56-82C2-C346336B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063F5-82B3-6B30-ACCC-F40675E1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0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7D7BA8-2288-AD52-43C9-9A3733CA0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77FEE-8C5F-48A0-B865-7E44A2B97634}" type="datetime1">
              <a:rPr lang="en-IN" smtClean="0"/>
              <a:t>10-05-2026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826F2-EAEF-2ABE-6098-39328C77E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606DF-EBD9-CF42-132C-C58F7AE58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8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A436-0B60-5394-66F7-D3AD37EA6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881C5-C1B0-33C0-BFD5-01EFFF965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A18742-ADB3-0B75-8984-568826E8E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FC35D-1D44-AF23-AC6B-FCD323AE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A16-036E-472F-8379-EF89E947FEE4}" type="datetime1">
              <a:rPr lang="en-IN" smtClean="0"/>
              <a:t>10-05-2026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B7CBE-5D82-F6FF-4E6E-43A0465AD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D0FB4-F448-8CDC-7F15-93F16FE2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1BD8C-4B08-B6E4-12C1-42AFC087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5F7AA-E1B6-CD28-147F-A07AAB6851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11745-CF18-7A73-A711-4CA20579C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B14D6-9A62-EA95-CF75-13B857F3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162D2-E495-459D-B029-0B8D717FB320}" type="datetime1">
              <a:rPr lang="en-IN" smtClean="0"/>
              <a:t>10-05-2026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A6000-EE39-14EE-19EA-BE817F48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5B818-FF6B-00D6-B3FC-CEB1498F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0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B7BAB-24CE-1AB4-BA1D-AEF76E15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F0F43B-E46E-03EB-BA3E-905EF4121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025BE-2892-06CB-84A5-DDEAF744D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62F26-2809-44A2-B21A-22C99EDF5019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A3150-F890-2FA8-B62C-5F0CEFD5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F612A-9787-0402-9853-C97C2A60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7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9DD120-F9C6-8E2C-2C65-9A38B856A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E0655-DA98-9FB1-71C1-05897537F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74160-6B54-C6F6-FBEB-E1BA0E60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24F4-7690-47E0-859F-BAD76B859654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20681-3DB1-5C1B-E254-8A61D9FD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47005-DA7B-402D-4786-AAF70A19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51F2D6-763B-493B-CD73-9D443DD24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A00E5-A473-9799-552C-F58E2962E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B51AB-16AB-98B9-E037-B8C5B5C453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0C17A-1D3B-4747-8E76-739B3EB99950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2A0CE-110F-2CE5-41CB-91E468AA5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6B8AD-DEF5-801A-0B7B-4E581CEAE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62C7C-9FA6-4436-90F7-C7370BED1EB3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648677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google-bert/bert-base-uncased" TargetMode="External"/><Relationship Id="rId5" Type="http://schemas.openxmlformats.org/officeDocument/2006/relationships/hyperlink" Target="https://huggingface.co/BAAI/bge-base-en-v1.5" TargetMode="Externa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rtik-Burele/nlp_mini_project.gi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national institute of technology&#10;&#10;Description automatically generated">
            <a:extLst>
              <a:ext uri="{FF2B5EF4-FFF2-40B4-BE49-F238E27FC236}">
                <a16:creationId xmlns:a16="http://schemas.microsoft.com/office/drawing/2014/main" id="{0836F0EA-D4C7-0822-44C4-05C129DBC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825" y="375458"/>
            <a:ext cx="1026825" cy="1026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3C0998-21F0-E3C1-F812-EE94F9B7CC2B}"/>
              </a:ext>
            </a:extLst>
          </p:cNvPr>
          <p:cNvSpPr txBox="1"/>
          <p:nvPr/>
        </p:nvSpPr>
        <p:spPr>
          <a:xfrm>
            <a:off x="2653249" y="504151"/>
            <a:ext cx="68855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Visvesvaraya National Institute of Technology, Nagpur</a:t>
            </a:r>
          </a:p>
          <a:p>
            <a:pPr algn="ctr"/>
            <a:r>
              <a:rPr lang="en-US" sz="2000" b="1" dirty="0">
                <a:latin typeface="+mj-lt"/>
              </a:rPr>
              <a:t>Electronics and Communication Engineering Department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436944-9102-B8DD-4937-53CE23F863CD}"/>
              </a:ext>
            </a:extLst>
          </p:cNvPr>
          <p:cNvCxnSpPr/>
          <p:nvPr/>
        </p:nvCxnSpPr>
        <p:spPr>
          <a:xfrm>
            <a:off x="408781" y="2466200"/>
            <a:ext cx="110477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CC8E6D-9AC9-207F-5269-04FCA0C97961}"/>
              </a:ext>
            </a:extLst>
          </p:cNvPr>
          <p:cNvSpPr txBox="1"/>
          <p:nvPr/>
        </p:nvSpPr>
        <p:spPr>
          <a:xfrm>
            <a:off x="408781" y="2810598"/>
            <a:ext cx="110477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/>
              <a:t>SemiSage</a:t>
            </a:r>
            <a:r>
              <a:rPr lang="en-US" sz="3200" b="1" dirty="0"/>
              <a:t>: Encoder-Based Retrieval Assistant for Semiconductor Documents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3C08EE-8491-1D44-274A-D679D012EA7B}"/>
              </a:ext>
            </a:extLst>
          </p:cNvPr>
          <p:cNvSpPr txBox="1"/>
          <p:nvPr/>
        </p:nvSpPr>
        <p:spPr>
          <a:xfrm>
            <a:off x="3954641" y="3909576"/>
            <a:ext cx="444730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Presented by Group 21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</a:rPr>
              <a:t>Kartik Burele (MT24AAC011)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</a:rPr>
              <a:t>Yekollu Saakshara (MT24AAC014)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6906C1-A200-6BB6-2FA3-502611F915AB}"/>
              </a:ext>
            </a:extLst>
          </p:cNvPr>
          <p:cNvSpPr txBox="1"/>
          <p:nvPr/>
        </p:nvSpPr>
        <p:spPr>
          <a:xfrm>
            <a:off x="4902722" y="5400139"/>
            <a:ext cx="255114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Under the supervision of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</a:rPr>
              <a:t>Dr. </a:t>
            </a:r>
            <a:r>
              <a:rPr lang="en-US" sz="2400" b="1" dirty="0" err="1">
                <a:solidFill>
                  <a:srgbClr val="002060"/>
                </a:solidFill>
              </a:rPr>
              <a:t>Saugata</a:t>
            </a:r>
            <a:r>
              <a:rPr lang="en-US" sz="2400" b="1" dirty="0">
                <a:solidFill>
                  <a:srgbClr val="002060"/>
                </a:solidFill>
              </a:rPr>
              <a:t> Sinha</a:t>
            </a:r>
          </a:p>
          <a:p>
            <a:pPr algn="ctr"/>
            <a:r>
              <a:rPr lang="en-US" sz="2400" b="1" dirty="0"/>
              <a:t>VNIT Nagpur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113255-FBC0-1E35-5573-1F719584E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D5500-71C4-4001-8F33-8C22722166F3}" type="datetime1">
              <a:rPr lang="en-IN" smtClean="0"/>
              <a:t>10-05-2026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6B8CB38-AB1E-3F70-E960-86C496A5F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DE005E-64E3-E478-B34F-E79F94A13EA5}"/>
              </a:ext>
            </a:extLst>
          </p:cNvPr>
          <p:cNvSpPr txBox="1"/>
          <p:nvPr/>
        </p:nvSpPr>
        <p:spPr>
          <a:xfrm>
            <a:off x="3048762" y="1450537"/>
            <a:ext cx="60944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/>
              <a:t>Executive </a:t>
            </a:r>
            <a:r>
              <a:rPr lang="en-US" sz="2000" b="1" u="sng" dirty="0" err="1"/>
              <a:t>M.Tech</a:t>
            </a:r>
            <a:r>
              <a:rPr lang="en-US" sz="2000" b="1" u="sng" dirty="0"/>
              <a:t>. in Applied AI &amp; Communications</a:t>
            </a:r>
          </a:p>
          <a:p>
            <a:pPr algn="ctr"/>
            <a:r>
              <a:rPr lang="en-US" sz="2000" b="1" u="sng" dirty="0"/>
              <a:t>Cohort 3B sem. 3, Summer 2026</a:t>
            </a:r>
          </a:p>
          <a:p>
            <a:pPr algn="ctr"/>
            <a:r>
              <a:rPr lang="en-US" sz="2000" b="1" u="sng" dirty="0"/>
              <a:t>Eval. 2 (10/05/2026)</a:t>
            </a:r>
          </a:p>
        </p:txBody>
      </p:sp>
    </p:spTree>
    <p:extLst>
      <p:ext uri="{BB962C8B-B14F-4D97-AF65-F5344CB8AC3E}">
        <p14:creationId xmlns:p14="http://schemas.microsoft.com/office/powerpoint/2010/main" val="1500752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83446-B031-65D4-C2BF-E38ADC696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374" y="854765"/>
            <a:ext cx="9541566" cy="5471123"/>
          </a:xfrm>
        </p:spPr>
        <p:txBody>
          <a:bodyPr>
            <a:normAutofit fontScale="85000" lnSpcReduction="20000"/>
          </a:bodyPr>
          <a:lstStyle/>
          <a:p>
            <a:r>
              <a:rPr lang="en-US" sz="2400" b="1" dirty="0"/>
              <a:t>Problem Statement:</a:t>
            </a:r>
            <a:br>
              <a:rPr lang="en-US" dirty="0"/>
            </a:br>
            <a:r>
              <a:rPr lang="en-US" sz="2400" dirty="0"/>
              <a:t>Time-consuming manual search in large SEMI standard documents</a:t>
            </a:r>
            <a:endParaRPr lang="en-US" sz="2900" dirty="0"/>
          </a:p>
          <a:p>
            <a:r>
              <a:rPr lang="en-US" sz="2400" dirty="0"/>
              <a:t>Semiconductor standard PDFs are:</a:t>
            </a:r>
          </a:p>
          <a:p>
            <a:pPr lvl="1"/>
            <a:r>
              <a:rPr lang="en-US" sz="2100" dirty="0"/>
              <a:t>Unstructured (OCR noise, tables, specs)</a:t>
            </a:r>
          </a:p>
          <a:p>
            <a:pPr lvl="1"/>
            <a:r>
              <a:rPr lang="en-US" sz="2100" dirty="0"/>
              <a:t>Difficult to query automatically</a:t>
            </a:r>
          </a:p>
          <a:p>
            <a:r>
              <a:rPr lang="en-US" sz="2400" b="1" dirty="0"/>
              <a:t>Objective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sz="2400" dirty="0"/>
              <a:t>An offline, end-to-end Question Answering system to extract precise </a:t>
            </a:r>
          </a:p>
          <a:p>
            <a:pPr marL="0" indent="0">
              <a:buNone/>
            </a:pPr>
            <a:r>
              <a:rPr lang="en-US" sz="2400" dirty="0"/>
              <a:t>     answers from 213 unstructured semiconductor standard PDFs.</a:t>
            </a:r>
          </a:p>
          <a:p>
            <a:r>
              <a:rPr lang="en-US" sz="2400" b="1" dirty="0"/>
              <a:t>Dataset Generation :</a:t>
            </a:r>
            <a:r>
              <a:rPr lang="en-US" sz="2400" dirty="0"/>
              <a:t> </a:t>
            </a:r>
          </a:p>
          <a:p>
            <a:r>
              <a:rPr lang="en-US" sz="2400" dirty="0"/>
              <a:t>Replaced previous noisy rule-based method with a Local LLM (Gemma 4B via </a:t>
            </a:r>
            <a:r>
              <a:rPr lang="en-US" sz="2400" dirty="0" err="1"/>
              <a:t>Ollama</a:t>
            </a:r>
            <a:r>
              <a:rPr lang="en-US" sz="2400" dirty="0"/>
              <a:t>) to generate high-quality extractive QA pairs. No cloud APIs used.</a:t>
            </a:r>
          </a:p>
          <a:p>
            <a:r>
              <a:rPr lang="en-US" sz="2400" b="1" dirty="0"/>
              <a:t>Data Quality Pipeline:</a:t>
            </a:r>
            <a:endParaRPr lang="en-US" sz="2400" dirty="0"/>
          </a:p>
          <a:p>
            <a:pPr lvl="1"/>
            <a:r>
              <a:rPr lang="en-US" sz="2100" dirty="0" err="1"/>
              <a:t>PyMuPDF</a:t>
            </a:r>
            <a:r>
              <a:rPr lang="en-US" sz="2100" dirty="0"/>
              <a:t> extraction -&gt; OCR Cleaning.</a:t>
            </a:r>
          </a:p>
          <a:p>
            <a:pPr lvl="1"/>
            <a:r>
              <a:rPr lang="en-US" sz="2100" dirty="0"/>
              <a:t>Semantic deduplication using </a:t>
            </a:r>
            <a:r>
              <a:rPr lang="en-US" sz="2100" b="1" dirty="0" err="1"/>
              <a:t>MiniLM</a:t>
            </a:r>
            <a:r>
              <a:rPr lang="en-US" sz="2100" dirty="0"/>
              <a:t> (</a:t>
            </a:r>
            <a:r>
              <a:rPr lang="en-US" sz="2100" b="1" dirty="0"/>
              <a:t>Cosine similarity &gt; 0.90</a:t>
            </a:r>
            <a:r>
              <a:rPr lang="en-US" sz="2100" dirty="0"/>
              <a:t>).</a:t>
            </a:r>
          </a:p>
          <a:p>
            <a:pPr lvl="1"/>
            <a:r>
              <a:rPr lang="en-US" sz="2100" dirty="0"/>
              <a:t>Answer validation (ensuring exact substring matches in context).</a:t>
            </a:r>
          </a:p>
          <a:p>
            <a:r>
              <a:rPr lang="en-US" sz="2400" b="1" dirty="0"/>
              <a:t>Dataset Statistics:</a:t>
            </a:r>
            <a:endParaRPr lang="en-US" sz="2400" dirty="0"/>
          </a:p>
          <a:p>
            <a:pPr lvl="1"/>
            <a:r>
              <a:rPr lang="en-US" b="1" dirty="0"/>
              <a:t>Total Cleaned QA Pairs:</a:t>
            </a:r>
            <a:r>
              <a:rPr lang="en-US" dirty="0"/>
              <a:t> 49,603 (Filtered down from 57,191).</a:t>
            </a:r>
          </a:p>
          <a:p>
            <a:pPr lvl="1"/>
            <a:r>
              <a:rPr lang="en-US" b="1" dirty="0"/>
              <a:t>Split:</a:t>
            </a:r>
            <a:r>
              <a:rPr lang="en-US" dirty="0"/>
              <a:t> Train: 39,682 (80%) | Val: 4,960 (10%) | Test: 4,961 (10%).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EAE4-7B8A-1BB4-7A82-30D1B707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10-05-2026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E49F3-1CC0-B691-D400-C0CD39A4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DB378F-8C1C-4934-9591-2093BA20518B}"/>
              </a:ext>
            </a:extLst>
          </p:cNvPr>
          <p:cNvSpPr txBox="1"/>
          <p:nvPr/>
        </p:nvSpPr>
        <p:spPr>
          <a:xfrm>
            <a:off x="914400" y="119270"/>
            <a:ext cx="10028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Project overview &amp; Dataset Details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72A3D0F-A745-4682-A388-089D60D58B62}"/>
              </a:ext>
            </a:extLst>
          </p:cNvPr>
          <p:cNvGrpSpPr/>
          <p:nvPr/>
        </p:nvGrpSpPr>
        <p:grpSpPr>
          <a:xfrm>
            <a:off x="8709989" y="304251"/>
            <a:ext cx="3173896" cy="6146809"/>
            <a:chOff x="8709989" y="304251"/>
            <a:chExt cx="3173896" cy="6146809"/>
          </a:xfrm>
        </p:grpSpPr>
        <p:pic>
          <p:nvPicPr>
            <p:cNvPr id="6" name="Graphic 5" descr="Document">
              <a:extLst>
                <a:ext uri="{FF2B5EF4-FFF2-40B4-BE49-F238E27FC236}">
                  <a16:creationId xmlns:a16="http://schemas.microsoft.com/office/drawing/2014/main" id="{D27DEAEE-CAD1-42F0-84ED-12255EC25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709989" y="685805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Document">
              <a:extLst>
                <a:ext uri="{FF2B5EF4-FFF2-40B4-BE49-F238E27FC236}">
                  <a16:creationId xmlns:a16="http://schemas.microsoft.com/office/drawing/2014/main" id="{0A1EFF82-E0EB-48CB-84A3-159398FA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93963" y="685805"/>
              <a:ext cx="914400" cy="914400"/>
            </a:xfrm>
            <a:prstGeom prst="rect">
              <a:avLst/>
            </a:prstGeom>
          </p:spPr>
        </p:pic>
        <p:pic>
          <p:nvPicPr>
            <p:cNvPr id="10" name="Graphic 9" descr="Document">
              <a:extLst>
                <a:ext uri="{FF2B5EF4-FFF2-40B4-BE49-F238E27FC236}">
                  <a16:creationId xmlns:a16="http://schemas.microsoft.com/office/drawing/2014/main" id="{CBCF9B9F-C87D-4705-BF84-8B90C9972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608363" y="685805"/>
              <a:ext cx="914400" cy="914400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08DCC18-2B91-4996-ABA8-7EB1E0E89653}"/>
                </a:ext>
              </a:extLst>
            </p:cNvPr>
            <p:cNvCxnSpPr>
              <a:cxnSpLocks/>
            </p:cNvCxnSpPr>
            <p:nvPr/>
          </p:nvCxnSpPr>
          <p:spPr>
            <a:xfrm>
              <a:off x="10018642" y="1679722"/>
              <a:ext cx="13252" cy="76062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0F9DF86-B7DE-4996-B401-62401F9342D6}"/>
                </a:ext>
              </a:extLst>
            </p:cNvPr>
            <p:cNvSpPr txBox="1"/>
            <p:nvPr/>
          </p:nvSpPr>
          <p:spPr>
            <a:xfrm>
              <a:off x="10151163" y="1753208"/>
              <a:ext cx="158031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i="1" dirty="0"/>
                <a:t>Text Extraction using OCR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E7CDF6-BE13-42F9-8F58-7EF441D1195A}"/>
                </a:ext>
              </a:extLst>
            </p:cNvPr>
            <p:cNvSpPr txBox="1"/>
            <p:nvPr/>
          </p:nvSpPr>
          <p:spPr>
            <a:xfrm>
              <a:off x="8852450" y="304251"/>
              <a:ext cx="25974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PDF data in image format </a:t>
              </a:r>
            </a:p>
          </p:txBody>
        </p:sp>
        <p:pic>
          <p:nvPicPr>
            <p:cNvPr id="15" name="Graphic 14" descr="Database">
              <a:extLst>
                <a:ext uri="{FF2B5EF4-FFF2-40B4-BE49-F238E27FC236}">
                  <a16:creationId xmlns:a16="http://schemas.microsoft.com/office/drawing/2014/main" id="{2CA1447F-68DB-4045-BDF6-1CAB90586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624389" y="4070358"/>
              <a:ext cx="914400" cy="9144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E19300A-00E9-4581-B289-D394274BCB47}"/>
                </a:ext>
              </a:extLst>
            </p:cNvPr>
            <p:cNvSpPr txBox="1"/>
            <p:nvPr/>
          </p:nvSpPr>
          <p:spPr>
            <a:xfrm>
              <a:off x="10465902" y="4161618"/>
              <a:ext cx="141798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i="1" dirty="0"/>
                <a:t>Conversion into JSON Squad-like format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80C16BD-AC66-42B0-ADF9-B704D92DEEC0}"/>
                </a:ext>
              </a:extLst>
            </p:cNvPr>
            <p:cNvSpPr txBox="1"/>
            <p:nvPr/>
          </p:nvSpPr>
          <p:spPr>
            <a:xfrm>
              <a:off x="9003193" y="4244012"/>
              <a:ext cx="84151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Definition</a:t>
              </a:r>
              <a:br>
                <a:rPr lang="en-IN" sz="1200" dirty="0"/>
              </a:br>
              <a:r>
                <a:rPr lang="en-IN" sz="1200" dirty="0"/>
                <a:t>Fact</a:t>
              </a:r>
              <a:br>
                <a:rPr lang="en-IN" sz="1200" dirty="0"/>
              </a:br>
              <a:r>
                <a:rPr lang="en-IN" sz="1200" dirty="0"/>
                <a:t>Context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36960CD-1D05-4E83-A7B7-0B5875C52B79}"/>
                </a:ext>
              </a:extLst>
            </p:cNvPr>
            <p:cNvSpPr/>
            <p:nvPr/>
          </p:nvSpPr>
          <p:spPr>
            <a:xfrm>
              <a:off x="9226824" y="5238486"/>
              <a:ext cx="1948069" cy="121257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/>
                <a:t>  {</a:t>
              </a:r>
            </a:p>
            <a:p>
              <a:r>
                <a:rPr lang="en-US" sz="1000" dirty="0"/>
                <a:t>    "question": "What is </a:t>
              </a:r>
              <a:r>
                <a:rPr lang="en-US" sz="1000" dirty="0" err="1"/>
                <a:t>xyz</a:t>
              </a:r>
              <a:r>
                <a:rPr lang="en-US" sz="1000" dirty="0"/>
                <a:t>?",</a:t>
              </a:r>
            </a:p>
            <a:p>
              <a:r>
                <a:rPr lang="en-US" sz="1000" dirty="0"/>
                <a:t>    "context": “</a:t>
              </a:r>
              <a:r>
                <a:rPr lang="en-US" sz="1000" dirty="0" err="1"/>
                <a:t>xyz</a:t>
              </a:r>
              <a:r>
                <a:rPr lang="en-US" sz="1000" dirty="0"/>
                <a:t>",</a:t>
              </a:r>
            </a:p>
            <a:p>
              <a:r>
                <a:rPr lang="en-US" sz="1000" dirty="0"/>
                <a:t>    "answer": “</a:t>
              </a:r>
              <a:r>
                <a:rPr lang="en-US" sz="1000" dirty="0" err="1"/>
                <a:t>xyz</a:t>
              </a:r>
              <a:r>
                <a:rPr lang="en-US" sz="1000" dirty="0"/>
                <a:t>",</a:t>
              </a:r>
            </a:p>
            <a:p>
              <a:r>
                <a:rPr lang="en-US" sz="1000" dirty="0"/>
                <a:t>    "answer_start":123,</a:t>
              </a:r>
            </a:p>
            <a:p>
              <a:r>
                <a:rPr lang="en-US" sz="1000" dirty="0"/>
                <a:t>    "type": "definition",</a:t>
              </a:r>
            </a:p>
            <a:p>
              <a:r>
                <a:rPr lang="en-US" sz="1000" dirty="0"/>
                <a:t>    "source": “xyz.pdf"</a:t>
              </a:r>
            </a:p>
            <a:p>
              <a:r>
                <a:rPr lang="en-US" sz="1000" dirty="0"/>
                <a:t>  },</a:t>
              </a:r>
            </a:p>
            <a:p>
              <a:pPr algn="ctr"/>
              <a:endParaRPr lang="en-IN" sz="1000" dirty="0"/>
            </a:p>
          </p:txBody>
        </p:sp>
        <p:pic>
          <p:nvPicPr>
            <p:cNvPr id="22" name="Graphic 21" descr="Document">
              <a:extLst>
                <a:ext uri="{FF2B5EF4-FFF2-40B4-BE49-F238E27FC236}">
                  <a16:creationId xmlns:a16="http://schemas.microsoft.com/office/drawing/2014/main" id="{CBBB0F8B-2386-4CCB-9D4A-60493F207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84023" y="2411431"/>
              <a:ext cx="914400" cy="9144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38A882D-1C77-4D89-ADD3-AA231D95CC30}"/>
                </a:ext>
              </a:extLst>
            </p:cNvPr>
            <p:cNvSpPr txBox="1"/>
            <p:nvPr/>
          </p:nvSpPr>
          <p:spPr>
            <a:xfrm>
              <a:off x="10356573" y="2653749"/>
              <a:ext cx="1080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OCR PDF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D3DC1A5-BDEE-4794-84FC-22559DA6FE1E}"/>
                </a:ext>
              </a:extLst>
            </p:cNvPr>
            <p:cNvCxnSpPr>
              <a:cxnSpLocks/>
            </p:cNvCxnSpPr>
            <p:nvPr/>
          </p:nvCxnSpPr>
          <p:spPr>
            <a:xfrm>
              <a:off x="10038521" y="3303601"/>
              <a:ext cx="13252" cy="76062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C384B8B-A8A0-40DB-BE77-E8C844F77AF5}"/>
                </a:ext>
              </a:extLst>
            </p:cNvPr>
            <p:cNvSpPr txBox="1"/>
            <p:nvPr/>
          </p:nvSpPr>
          <p:spPr>
            <a:xfrm>
              <a:off x="10224051" y="3335616"/>
              <a:ext cx="158031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i="1" dirty="0"/>
                <a:t>Chunk size 250.</a:t>
              </a:r>
              <a:br>
                <a:rPr lang="en-IN" sz="1400" i="1" dirty="0"/>
              </a:br>
              <a:r>
                <a:rPr lang="en-IN" sz="1400" i="1" dirty="0"/>
                <a:t>Rule based </a:t>
              </a:r>
              <a:r>
                <a:rPr lang="en-IN" sz="1400" i="1" dirty="0" err="1"/>
                <a:t>QnA</a:t>
              </a:r>
              <a:r>
                <a:rPr lang="en-IN" sz="1400" i="1" dirty="0"/>
                <a:t> creation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1CFBE20-E119-416F-AB2F-D7D4A9D941D4}"/>
              </a:ext>
            </a:extLst>
          </p:cNvPr>
          <p:cNvCxnSpPr>
            <a:cxnSpLocks/>
          </p:cNvCxnSpPr>
          <p:nvPr/>
        </p:nvCxnSpPr>
        <p:spPr>
          <a:xfrm>
            <a:off x="838200" y="2971808"/>
            <a:ext cx="80142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6001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1843-B53B-E0B7-2406-AAA2AAA7F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88" y="457200"/>
            <a:ext cx="2195573" cy="1659836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latin typeface="+mn-lt"/>
                <a:ea typeface="+mn-ea"/>
                <a:cs typeface="+mn-cs"/>
              </a:rPr>
              <a:t>System Architecture</a:t>
            </a:r>
            <a:br>
              <a:rPr lang="en-IN" sz="3200" b="1" dirty="0">
                <a:latin typeface="+mn-lt"/>
                <a:ea typeface="+mn-ea"/>
                <a:cs typeface="+mn-cs"/>
              </a:rPr>
            </a:br>
            <a:r>
              <a:rPr lang="en-IN" sz="2000" b="1" dirty="0">
                <a:latin typeface="+mn-lt"/>
                <a:ea typeface="+mn-ea"/>
                <a:cs typeface="+mn-cs"/>
              </a:rPr>
              <a:t>(Retriever –</a:t>
            </a:r>
            <a:br>
              <a:rPr lang="en-IN" sz="2000" b="1" dirty="0">
                <a:latin typeface="+mn-lt"/>
                <a:ea typeface="+mn-ea"/>
                <a:cs typeface="+mn-cs"/>
              </a:rPr>
            </a:br>
            <a:r>
              <a:rPr lang="en-IN" sz="2000" b="1" dirty="0">
                <a:latin typeface="+mn-lt"/>
                <a:ea typeface="+mn-ea"/>
                <a:cs typeface="+mn-cs"/>
              </a:rPr>
              <a:t>Reader)</a:t>
            </a:r>
            <a:endParaRPr lang="en-US" sz="3200" b="1" dirty="0"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BB601-FBC2-B8E9-2FB1-0DE4D9B2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31EA7-2FE7-15EE-F4AF-F046C745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3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B5476A1-4D2F-4231-8582-DFC7FB9DB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166" y="136525"/>
            <a:ext cx="9343489" cy="6550223"/>
          </a:xfrm>
          <a:prstGeom prst="rect">
            <a:avLst/>
          </a:prstGeom>
        </p:spPr>
      </p:pic>
      <p:pic>
        <p:nvPicPr>
          <p:cNvPr id="11" name="Graphic 10" descr="Atom">
            <a:extLst>
              <a:ext uri="{FF2B5EF4-FFF2-40B4-BE49-F238E27FC236}">
                <a16:creationId xmlns:a16="http://schemas.microsoft.com/office/drawing/2014/main" id="{78E6E780-7A50-47AA-940A-1016303848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3126" y="1684804"/>
            <a:ext cx="590206" cy="5902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FB7768-5E81-4A1E-85FD-F72DEA4387A9}"/>
              </a:ext>
            </a:extLst>
          </p:cNvPr>
          <p:cNvSpPr txBox="1"/>
          <p:nvPr/>
        </p:nvSpPr>
        <p:spPr>
          <a:xfrm>
            <a:off x="8475429" y="1495960"/>
            <a:ext cx="36476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Models Used: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hlinkClick r:id="rId5"/>
              </a:rPr>
              <a:t>BAAI/bge-base-en-v1.5 · Hugging Face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hlinkClick r:id="rId6"/>
              </a:rPr>
              <a:t>google-</a:t>
            </a:r>
            <a:r>
              <a:rPr lang="en-IN" dirty="0" err="1">
                <a:hlinkClick r:id="rId6"/>
              </a:rPr>
              <a:t>bert</a:t>
            </a:r>
            <a:r>
              <a:rPr lang="en-IN" dirty="0">
                <a:hlinkClick r:id="rId6"/>
              </a:rPr>
              <a:t>/</a:t>
            </a:r>
            <a:r>
              <a:rPr lang="en-IN" dirty="0" err="1">
                <a:hlinkClick r:id="rId6"/>
              </a:rPr>
              <a:t>bert</a:t>
            </a:r>
            <a:r>
              <a:rPr lang="en-IN" dirty="0">
                <a:hlinkClick r:id="rId6"/>
              </a:rPr>
              <a:t>-base-uncased · Hugging Face</a:t>
            </a:r>
            <a:endParaRPr lang="en-IN" dirty="0"/>
          </a:p>
        </p:txBody>
      </p:sp>
      <p:pic>
        <p:nvPicPr>
          <p:cNvPr id="17" name="Graphic 16" descr="Atom">
            <a:extLst>
              <a:ext uri="{FF2B5EF4-FFF2-40B4-BE49-F238E27FC236}">
                <a16:creationId xmlns:a16="http://schemas.microsoft.com/office/drawing/2014/main" id="{4C4B7F57-A659-435E-9575-0B942DF9C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3126" y="2482896"/>
            <a:ext cx="590206" cy="59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939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DF40-F19A-D2C4-F90B-6FECAFED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8362"/>
          </a:xfrm>
        </p:spPr>
        <p:txBody>
          <a:bodyPr/>
          <a:lstStyle/>
          <a:p>
            <a:r>
              <a:rPr lang="en-IN" sz="3200" b="1" dirty="0">
                <a:latin typeface="+mn-lt"/>
                <a:ea typeface="+mn-ea"/>
                <a:cs typeface="+mn-cs"/>
              </a:rPr>
              <a:t>Work Done Till Now</a:t>
            </a:r>
            <a:endParaRPr lang="en-US" sz="3200" b="1" dirty="0"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E45DA-79AD-441F-6D6A-F73E02765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1713A-7AC8-8392-67DB-8688851C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7BD23A-07F7-400A-9D42-B59B89A8F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489"/>
            <a:ext cx="10515600" cy="3061250"/>
          </a:xfrm>
        </p:spPr>
        <p:txBody>
          <a:bodyPr>
            <a:normAutofit lnSpcReduction="10000"/>
          </a:bodyPr>
          <a:lstStyle/>
          <a:p>
            <a:r>
              <a:rPr lang="en-IN" sz="2000" b="1" dirty="0"/>
              <a:t>Stage 1: Retriever (BAAI/bge-base-en-v1.5 + FAISS)</a:t>
            </a:r>
            <a:endParaRPr lang="en-IN" sz="2000" dirty="0"/>
          </a:p>
          <a:p>
            <a:pPr lvl="1"/>
            <a:r>
              <a:rPr lang="en-IN" sz="2000" dirty="0"/>
              <a:t>Fine-tuned using </a:t>
            </a:r>
            <a:r>
              <a:rPr lang="en-IN" sz="2000" b="1" dirty="0" err="1"/>
              <a:t>MultipleNegativesRankingLoss</a:t>
            </a:r>
            <a:r>
              <a:rPr lang="en-IN" sz="2000" b="1" dirty="0"/>
              <a:t> (MNRL)</a:t>
            </a:r>
            <a:r>
              <a:rPr lang="en-IN" sz="2000" dirty="0"/>
              <a:t> for a much stronger training signal.</a:t>
            </a:r>
          </a:p>
          <a:p>
            <a:pPr lvl="1"/>
            <a:r>
              <a:rPr lang="en-IN" sz="2000" dirty="0"/>
              <a:t>Windowed positives (±100 characters around the answer) to improve contextual relevance.</a:t>
            </a:r>
          </a:p>
          <a:p>
            <a:pPr lvl="1"/>
            <a:r>
              <a:rPr lang="en-IN" sz="2000" dirty="0"/>
              <a:t>Corpus: 48,969 unique passages indexed with cosine similarity.</a:t>
            </a:r>
          </a:p>
          <a:p>
            <a:r>
              <a:rPr lang="en-US" sz="2000" b="1" dirty="0"/>
              <a:t>Stage 2: QA Reader (</a:t>
            </a:r>
            <a:r>
              <a:rPr lang="en-US" sz="2000" b="1" dirty="0" err="1"/>
              <a:t>bert</a:t>
            </a:r>
            <a:r>
              <a:rPr lang="en-US" sz="2000" b="1" dirty="0"/>
              <a:t>-base-uncased)</a:t>
            </a:r>
            <a:endParaRPr lang="en-US" sz="2000" dirty="0"/>
          </a:p>
          <a:p>
            <a:pPr lvl="1"/>
            <a:r>
              <a:rPr lang="en-US" sz="2000" dirty="0"/>
              <a:t>Fine-tuned specifically for </a:t>
            </a:r>
            <a:r>
              <a:rPr lang="en-US" sz="2000" b="1" dirty="0"/>
              <a:t>Extractive QA</a:t>
            </a:r>
            <a:r>
              <a:rPr lang="en-US" sz="2000" dirty="0"/>
              <a:t> to pinpoint the exact answer span within the retrieved passage.</a:t>
            </a:r>
          </a:p>
          <a:p>
            <a:pPr lvl="1"/>
            <a:r>
              <a:rPr lang="en-US" sz="2000" dirty="0"/>
              <a:t>Evaluates top-20 start/end token candidates to compute final confidence scores.</a:t>
            </a:r>
          </a:p>
          <a:p>
            <a:r>
              <a:rPr lang="en-IN" sz="2000" b="1" dirty="0"/>
              <a:t>Pipeline Flow: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0DF7DF-A952-4565-AAE4-70F0A0151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26" y="4343084"/>
            <a:ext cx="10883348" cy="8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77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11BDE-A387-12CC-F505-8E04DFFFB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8788"/>
          </a:xfrm>
        </p:spPr>
        <p:txBody>
          <a:bodyPr/>
          <a:lstStyle/>
          <a:p>
            <a:r>
              <a:rPr lang="en-IN" sz="3200" b="1" dirty="0">
                <a:latin typeface="+mn-lt"/>
                <a:ea typeface="+mn-ea"/>
                <a:cs typeface="+mn-cs"/>
              </a:rPr>
              <a:t>Model Evaluation and Results</a:t>
            </a:r>
            <a:endParaRPr lang="en-US" sz="3200" b="1" dirty="0"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AF46D-6352-D0FE-7225-3099957E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10-05-2026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CA1174-EC12-3755-D427-2E7008343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5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B56EE7-FB3B-4DFC-B5B9-E0DCAE3F9A28}"/>
              </a:ext>
            </a:extLst>
          </p:cNvPr>
          <p:cNvSpPr txBox="1"/>
          <p:nvPr/>
        </p:nvSpPr>
        <p:spPr>
          <a:xfrm>
            <a:off x="6659216" y="3877011"/>
            <a:ext cx="4184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Future Scope: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 </a:t>
            </a:r>
            <a:r>
              <a:rPr lang="en-IN" i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reranker</a:t>
            </a: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for better ranking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Build user interface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C9F019-3377-48D1-A91B-81A19DC8A471}"/>
              </a:ext>
            </a:extLst>
          </p:cNvPr>
          <p:cNvSpPr txBox="1"/>
          <p:nvPr/>
        </p:nvSpPr>
        <p:spPr>
          <a:xfrm>
            <a:off x="838200" y="3877012"/>
            <a:ext cx="37072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Quality Data fundamentally fixed the learning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Retrieval model now effectively understands semantic relationships.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B54794-7666-463C-B2AD-271E0E9C7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313"/>
            <a:ext cx="12192000" cy="116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569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B9923-37AE-4543-B68F-7B5C6A091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491"/>
            <a:ext cx="10515600" cy="589032"/>
          </a:xfrm>
        </p:spPr>
        <p:txBody>
          <a:bodyPr/>
          <a:lstStyle/>
          <a:p>
            <a:r>
              <a:rPr lang="en-IN" sz="3200" b="1" dirty="0">
                <a:latin typeface="+mn-lt"/>
                <a:ea typeface="+mn-ea"/>
                <a:cs typeface="+mn-cs"/>
              </a:rPr>
              <a:t>Demo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293B26-A162-4541-84C2-59461A45E1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39634"/>
            <a:ext cx="10515600" cy="415514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3D73A-8A46-4C69-AB77-2275E6C92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56E49B-DA6C-4509-B1DF-E46806167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8E9DB4-EBB3-48D8-9B8F-E8E411BC9F71}"/>
              </a:ext>
            </a:extLst>
          </p:cNvPr>
          <p:cNvSpPr txBox="1"/>
          <p:nvPr/>
        </p:nvSpPr>
        <p:spPr>
          <a:xfrm>
            <a:off x="974034" y="993913"/>
            <a:ext cx="588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Please run the python project script from git using command </a:t>
            </a:r>
            <a:r>
              <a:rPr lang="en-IN" dirty="0" err="1">
                <a:highlight>
                  <a:srgbClr val="C0C0C0"/>
                </a:highlight>
              </a:rPr>
              <a:t>uv</a:t>
            </a:r>
            <a:r>
              <a:rPr lang="en-IN" dirty="0">
                <a:highlight>
                  <a:srgbClr val="C0C0C0"/>
                </a:highlight>
              </a:rPr>
              <a:t> run .\12_pipeline.py</a:t>
            </a:r>
          </a:p>
        </p:txBody>
      </p:sp>
    </p:spTree>
    <p:extLst>
      <p:ext uri="{BB962C8B-B14F-4D97-AF65-F5344CB8AC3E}">
        <p14:creationId xmlns:p14="http://schemas.microsoft.com/office/powerpoint/2010/main" val="2005724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3B26C-498C-4965-A952-7F6B980CE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9640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latin typeface="+mn-lt"/>
                <a:ea typeface="+mn-ea"/>
                <a:cs typeface="+mn-cs"/>
              </a:rPr>
              <a:t>Git Repository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0F541-94FF-4DBE-9425-CAD5EC36C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3183"/>
            <a:ext cx="10515600" cy="5063780"/>
          </a:xfrm>
        </p:spPr>
        <p:txBody>
          <a:bodyPr/>
          <a:lstStyle/>
          <a:p>
            <a:r>
              <a:rPr lang="en-IN" dirty="0">
                <a:hlinkClick r:id="rId2"/>
              </a:rPr>
              <a:t>https://github.com/Kartik-Burele/nlp_mini_project.git</a:t>
            </a:r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EA414-3FD5-4060-8D09-EA36DE25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6A864E-A195-474C-BFBA-71B3F229E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57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54A9C-93AE-B5F3-F1A4-B23DCB289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Thank you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344B8-A1D8-CD59-8F23-27063C556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10-05-2026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C0E03-881C-0985-CD32-CC21B0D8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15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533</Words>
  <Application>Microsoft Office PowerPoint</Application>
  <PresentationFormat>Widescreen</PresentationFormat>
  <Paragraphs>84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System Architecture (Retriever – Reader)</vt:lpstr>
      <vt:lpstr>Work Done Till Now</vt:lpstr>
      <vt:lpstr>Model Evaluation and Results</vt:lpstr>
      <vt:lpstr>Demo </vt:lpstr>
      <vt:lpstr>Git Repository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Praveen Pawar</dc:creator>
  <cp:lastModifiedBy>kartik burele</cp:lastModifiedBy>
  <cp:revision>39</cp:revision>
  <dcterms:created xsi:type="dcterms:W3CDTF">2025-05-09T09:30:28Z</dcterms:created>
  <dcterms:modified xsi:type="dcterms:W3CDTF">2026-05-10T04:59:09Z</dcterms:modified>
</cp:coreProperties>
</file>